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6D4B38-DD81-4B2F-B824-7F2F85952B2E}">
  <a:tblStyle styleId="{8D6D4B38-DD81-4B2F-B824-7F2F85952B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319" y="7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slide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slide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4800" y="215900"/>
            <a:ext cx="533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B8F24A"/>
                </a:solidFill>
              </a:rPr>
              <a:t>01</a:t>
            </a:r>
            <a:endParaRPr sz="1000" b="1">
              <a:solidFill>
                <a:srgbClr val="B8F24A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863600" y="1651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EDF7F0"/>
                </a:solidFill>
              </a:rPr>
              <a:t>GridBrief AI</a:t>
            </a:r>
            <a:endParaRPr sz="2200" b="1">
              <a:solidFill>
                <a:srgbClr val="EDF7F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63600" y="533400"/>
            <a:ext cx="7874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4ADA1"/>
                </a:solidFill>
              </a:rPr>
              <a:t>Source-grounded ERCOT intelligence — implemented public beta version</a:t>
            </a:r>
            <a:endParaRPr sz="900">
              <a:solidFill>
                <a:srgbClr val="94ADA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7200" y="952500"/>
            <a:ext cx="82296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EDF7F0"/>
                </a:solidFill>
              </a:rPr>
              <a:t>The scattered state of ERCOT,</a:t>
            </a:r>
            <a:endParaRPr sz="2500" b="1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EDF7F0"/>
                </a:solidFill>
              </a:rPr>
              <a:t>turned into a trustworthy briefing.</a:t>
            </a:r>
            <a:endParaRPr sz="2500" b="1">
              <a:solidFill>
                <a:srgbClr val="EDF7F0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82600" y="1968500"/>
            <a:ext cx="8178900" cy="6603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660400" y="2095500"/>
            <a:ext cx="1066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B8F24A"/>
                </a:solidFill>
              </a:rPr>
              <a:t>BUILT</a:t>
            </a:r>
            <a:endParaRPr sz="1000" b="1">
              <a:solidFill>
                <a:srgbClr val="B8F24A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841500" y="2057400"/>
            <a:ext cx="6540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DF7F0"/>
                </a:solidFill>
              </a:rPr>
              <a:t>Built an agentic RAG product that unifies ERCOT, EIA and NWS data into a responsive decision workspace.</a:t>
            </a:r>
            <a:endParaRPr sz="1200">
              <a:solidFill>
                <a:srgbClr val="EDF7F0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82600" y="2806700"/>
            <a:ext cx="8178900" cy="6603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660400" y="2933700"/>
            <a:ext cx="1066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B8F24A"/>
                </a:solidFill>
              </a:rPr>
              <a:t>ENGINEERED</a:t>
            </a:r>
            <a:endParaRPr sz="1000" b="1">
              <a:solidFill>
                <a:srgbClr val="B8F24A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841500" y="2895600"/>
            <a:ext cx="6540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DF7F0"/>
                </a:solidFill>
              </a:rPr>
              <a:t>Engineered LangGraph triage → planning → writing → verification → editing with citation enforcement and two revision attempts.</a:t>
            </a:r>
            <a:endParaRPr sz="1200">
              <a:solidFill>
                <a:srgbClr val="EDF7F0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482600" y="3644900"/>
            <a:ext cx="8178900" cy="6603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660400" y="3771900"/>
            <a:ext cx="1066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B8F24A"/>
                </a:solidFill>
              </a:rPr>
              <a:t>SHIPPED</a:t>
            </a:r>
            <a:endParaRPr sz="1000" b="1">
              <a:solidFill>
                <a:srgbClr val="B8F24A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841500" y="3733800"/>
            <a:ext cx="6540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DF7F0"/>
                </a:solidFill>
              </a:rPr>
              <a:t>Shipped FastAPI + Supabase + pgvector on Render, with GitHub Actions ingestion, deterministic analytics and passing tests.</a:t>
            </a:r>
            <a:endParaRPr sz="1200">
              <a:solidFill>
                <a:srgbClr val="EDF7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>
            <a:off x="304800" y="215900"/>
            <a:ext cx="533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B8F24A"/>
                </a:solidFill>
              </a:rPr>
              <a:t>02</a:t>
            </a:r>
            <a:endParaRPr sz="1000" b="1">
              <a:solidFill>
                <a:srgbClr val="B8F24A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863600" y="1651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EDF7F0"/>
                </a:solidFill>
              </a:rPr>
              <a:t>Detailed AI Tech Stack (In-Depth Version: AI Tech Stack Document)</a:t>
            </a:r>
            <a:endParaRPr sz="1800" b="1" dirty="0">
              <a:solidFill>
                <a:srgbClr val="EDF7F0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863600" y="533400"/>
            <a:ext cx="7874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4ADA1"/>
                </a:solidFill>
              </a:rPr>
              <a:t>Yellow = implemented today  ·  Green = ideal scale-up</a:t>
            </a:r>
            <a:endParaRPr sz="900">
              <a:solidFill>
                <a:srgbClr val="94ADA1"/>
              </a:solidFill>
            </a:endParaRPr>
          </a:p>
        </p:txBody>
      </p:sp>
      <p:graphicFrame>
        <p:nvGraphicFramePr>
          <p:cNvPr id="74" name="Google Shape;74;p14"/>
          <p:cNvGraphicFramePr/>
          <p:nvPr/>
        </p:nvGraphicFramePr>
        <p:xfrm>
          <a:off x="304800" y="939800"/>
          <a:ext cx="8534400" cy="3569940"/>
        </p:xfrm>
        <a:graphic>
          <a:graphicData uri="http://schemas.openxmlformats.org/drawingml/2006/table">
            <a:tbl>
              <a:tblPr>
                <a:noFill/>
                <a:tableStyleId>{8D6D4B38-DD81-4B2F-B824-7F2F85952B2E}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b="1">
                          <a:solidFill>
                            <a:srgbClr val="07110F"/>
                          </a:solidFill>
                        </a:rPr>
                        <a:t>Layer (back → front)</a:t>
                      </a:r>
                      <a:endParaRPr sz="750" b="1">
                        <a:solidFill>
                          <a:srgbClr val="07110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b="1">
                          <a:solidFill>
                            <a:srgbClr val="07110F"/>
                          </a:solidFill>
                        </a:rPr>
                        <a:t>Basic / local</a:t>
                      </a:r>
                      <a:endParaRPr sz="750" b="1">
                        <a:solidFill>
                          <a:srgbClr val="07110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b="1">
                          <a:solidFill>
                            <a:srgbClr val="07110F"/>
                          </a:solidFill>
                        </a:rPr>
                        <a:t>Freemium / hosted</a:t>
                      </a:r>
                      <a:endParaRPr sz="750" b="1">
                        <a:solidFill>
                          <a:srgbClr val="07110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b="1">
                          <a:solidFill>
                            <a:srgbClr val="07110F"/>
                          </a:solidFill>
                        </a:rPr>
                        <a:t>Google (paid)</a:t>
                      </a:r>
                      <a:endParaRPr sz="750" b="1">
                        <a:solidFill>
                          <a:srgbClr val="07110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b="1">
                          <a:solidFill>
                            <a:srgbClr val="07110F"/>
                          </a:solidFill>
                        </a:rPr>
                        <a:t>AWS (paid)</a:t>
                      </a:r>
                      <a:endParaRPr sz="750" b="1">
                        <a:solidFill>
                          <a:srgbClr val="07110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b="1">
                          <a:solidFill>
                            <a:srgbClr val="07110F"/>
                          </a:solidFill>
                        </a:rPr>
                        <a:t>Microsoft (paid)</a:t>
                      </a:r>
                      <a:endParaRPr sz="750" b="1">
                        <a:solidFill>
                          <a:srgbClr val="07110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b="1">
                          <a:solidFill>
                            <a:srgbClr val="07110F"/>
                          </a:solidFill>
                        </a:rPr>
                        <a:t>Others (paid)</a:t>
                      </a:r>
                      <a:endParaRPr sz="750" b="1">
                        <a:solidFill>
                          <a:srgbClr val="07110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chemeClr val="dk1"/>
                          </a:solidFill>
                        </a:rPr>
                        <a:t>Data &amp; vector store</a:t>
                      </a:r>
                      <a:endParaRPr sz="7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CSV, JSON, Excel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Supabase Postgres + pgvector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BigQuery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4472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Amazon RDS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Azure SQL Database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Snowflake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chemeClr val="dk1"/>
                          </a:solidFill>
                        </a:rPr>
                        <a:t>Training &amp; MLOps</a:t>
                      </a:r>
                      <a:endParaRPr sz="7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Jupyter Notebook, Visual Studio Code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GitHub Actions + pytest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Vertex AI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4472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Amazon SageMaker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Azure Machine Learning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Databricks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chemeClr val="dk1"/>
                          </a:solidFill>
                        </a:rPr>
                        <a:t>Coding / agents</a:t>
                      </a:r>
                      <a:endParaRPr sz="7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Simple text editor, terminal scripts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Visual Studio Code, GitHub + LangGraph, Claude Code, LangSmith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—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—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GitHub Copilot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LangSmith (OPTIONAL)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447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chemeClr val="dk1"/>
                          </a:solidFill>
                        </a:rPr>
                        <a:t>Gen AI models</a:t>
                      </a:r>
                      <a:endParaRPr sz="7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Ollama + local Llama/Mistral/Gemma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Groq-hosted + BGE-base-en-v1.5 embeddings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Gemini API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4472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Amazon Bedrock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Azure OpenAI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Managed reranker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447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chemeClr val="dk1"/>
                          </a:solidFill>
                        </a:rPr>
                        <a:t>Frontend / API</a:t>
                      </a:r>
                      <a:endParaRPr sz="7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HTML/CSS/JS/SVG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API: FastAPI + Uvicorn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Firebase Hosting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AWS Amplify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Azure Static Web Apps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Next.js + PostHog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447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chemeClr val="dk1"/>
                          </a:solidFill>
                        </a:rPr>
                        <a:t>Hosting / runtime</a:t>
                      </a:r>
                      <a:endParaRPr sz="7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Docker + localhost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Render + Supabase + GitHub Actions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Cloud Run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4472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AWS Lambda / ECS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Azure App Service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Cloudflare Workers, Heroku, Kubernetes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chemeClr val="dk1"/>
                          </a:solidFill>
                        </a:rPr>
                        <a:t>Quality / security / observability</a:t>
                      </a:r>
                      <a:endParaRPr sz="7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8F2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Ruff + pytest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Citations + rate limits + caching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5247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Cloud Monitoring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CloudWatch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Application Insights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DF7F0"/>
                          </a:solidFill>
                        </a:rPr>
                        <a:t>Sentry + OpenTelemetry</a:t>
                      </a:r>
                      <a:endParaRPr sz="700">
                        <a:solidFill>
                          <a:srgbClr val="EDF7F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447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5" name="Google Shape;75;p14"/>
          <p:cNvSpPr txBox="1"/>
          <p:nvPr/>
        </p:nvSpPr>
        <p:spPr>
          <a:xfrm>
            <a:off x="381000" y="4657625"/>
            <a:ext cx="83820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WHY IDEAL: autoscaling + observability improve reliability; trade-off = higher cost, vendor coupling and operational complexity.</a:t>
            </a:r>
            <a:endParaRPr sz="900">
              <a:solidFill>
                <a:srgbClr val="EDF7F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304800" y="215900"/>
            <a:ext cx="533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B8F24A"/>
                </a:solidFill>
              </a:rPr>
              <a:t>03</a:t>
            </a:r>
            <a:endParaRPr sz="1000" b="1">
              <a:solidFill>
                <a:srgbClr val="B8F24A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63600" y="1651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EDF7F0"/>
                </a:solidFill>
              </a:rPr>
              <a:t>Data, Model and Key Insights</a:t>
            </a:r>
            <a:endParaRPr sz="2200" b="1">
              <a:solidFill>
                <a:srgbClr val="EDF7F0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863600" y="533400"/>
            <a:ext cx="7874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4ADA1"/>
                </a:solidFill>
              </a:rPr>
              <a:t>How evidence becomes a verified answer or edition</a:t>
            </a:r>
            <a:endParaRPr sz="900">
              <a:solidFill>
                <a:srgbClr val="94ADA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317500" y="1054100"/>
            <a:ext cx="1485900" cy="7365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INGEST</a:t>
            </a:r>
            <a:endParaRPr sz="900">
              <a:solidFill>
                <a:srgbClr val="EDF7F0"/>
              </a:solidFill>
            </a:endParaRPr>
          </a:p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ERCOT · EIA · NWS · RSS</a:t>
            </a:r>
            <a:endParaRPr sz="900">
              <a:solidFill>
                <a:srgbClr val="EDF7F0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803350" y="1276300"/>
            <a:ext cx="254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B8F24A"/>
                </a:solidFill>
              </a:rPr>
              <a:t>→</a:t>
            </a:r>
            <a:endParaRPr sz="1600" dirty="0">
              <a:solidFill>
                <a:srgbClr val="B8F24A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2057400" y="1054100"/>
            <a:ext cx="1485900" cy="7365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NORMALIZE</a:t>
            </a:r>
            <a:endParaRPr sz="900">
              <a:solidFill>
                <a:srgbClr val="EDF7F0"/>
              </a:solidFill>
            </a:endParaRPr>
          </a:p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Canonical metrics + IDs</a:t>
            </a:r>
            <a:endParaRPr sz="900">
              <a:solidFill>
                <a:srgbClr val="EDF7F0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543200" y="1276100"/>
            <a:ext cx="254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B8F24A"/>
                </a:solidFill>
              </a:rPr>
              <a:t>→</a:t>
            </a:r>
            <a:endParaRPr sz="1600" dirty="0">
              <a:solidFill>
                <a:srgbClr val="B8F24A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3797300" y="1054100"/>
            <a:ext cx="1485900" cy="7365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RETRIEVE</a:t>
            </a:r>
            <a:endParaRPr sz="900">
              <a:solidFill>
                <a:srgbClr val="EDF7F0"/>
              </a:solidFill>
            </a:endParaRPr>
          </a:p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SQL analytics + pgvector</a:t>
            </a:r>
            <a:endParaRPr sz="900">
              <a:solidFill>
                <a:srgbClr val="EDF7F0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283100" y="1277833"/>
            <a:ext cx="254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B8F24A"/>
                </a:solidFill>
              </a:rPr>
              <a:t>→</a:t>
            </a:r>
            <a:endParaRPr sz="1600" dirty="0">
              <a:solidFill>
                <a:srgbClr val="B8F24A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537200" y="1054100"/>
            <a:ext cx="1485900" cy="7365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REASON</a:t>
            </a:r>
            <a:endParaRPr sz="900">
              <a:solidFill>
                <a:srgbClr val="EDF7F0"/>
              </a:solidFill>
            </a:endParaRPr>
          </a:p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LangGraph + Groq</a:t>
            </a:r>
            <a:endParaRPr sz="900">
              <a:solidFill>
                <a:srgbClr val="EDF7F0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7023000" y="1276100"/>
            <a:ext cx="254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B8F24A"/>
                </a:solidFill>
              </a:rPr>
              <a:t>→</a:t>
            </a:r>
            <a:endParaRPr sz="1600" dirty="0">
              <a:solidFill>
                <a:srgbClr val="B8F24A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17500" y="2082800"/>
            <a:ext cx="4089300" cy="21462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533400" y="2260600"/>
            <a:ext cx="35559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B8F24A"/>
                </a:solidFill>
              </a:rPr>
              <a:t>MODEL STRATEGY</a:t>
            </a:r>
            <a:endParaRPr sz="1200" b="1">
              <a:solidFill>
                <a:srgbClr val="B8F24A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09600" y="2628900"/>
            <a:ext cx="35052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Deterministic SQL owns numeric answers.</a:t>
            </a:r>
            <a:endParaRPr sz="1000">
              <a:solidFill>
                <a:srgbClr val="EDF7F0"/>
              </a:solidFill>
            </a:endParaRPr>
          </a:p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The LLM explains only after retrieval.</a:t>
            </a:r>
            <a:endParaRPr sz="1000">
              <a:solidFill>
                <a:srgbClr val="EDF7F0"/>
              </a:solidFill>
            </a:endParaRPr>
          </a:p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Writer uses retrieved evidence only.</a:t>
            </a:r>
            <a:endParaRPr sz="1000">
              <a:solidFill>
                <a:srgbClr val="EDF7F0"/>
              </a:solidFill>
            </a:endParaRPr>
          </a:p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Verifier allows at most two rewrites.</a:t>
            </a:r>
            <a:endParaRPr sz="1000">
              <a:solidFill>
                <a:srgbClr val="EDF7F0"/>
              </a:solidFill>
            </a:endParaRPr>
          </a:p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Editor enforces citations and saves.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4737100" y="2082800"/>
            <a:ext cx="4089300" cy="21462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4953000" y="2260600"/>
            <a:ext cx="35559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B8F24A"/>
                </a:solidFill>
              </a:rPr>
              <a:t>KEY INSIGHTS</a:t>
            </a:r>
            <a:endParaRPr sz="1200" b="1">
              <a:solidFill>
                <a:srgbClr val="B8F24A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029200" y="2628900"/>
            <a:ext cx="35052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Time series beats document search for prices.</a:t>
            </a:r>
            <a:endParaRPr sz="1000">
              <a:solidFill>
                <a:srgbClr val="EDF7F0"/>
              </a:solidFill>
            </a:endParaRPr>
          </a:p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Stable IDs make every number traceable.</a:t>
            </a:r>
            <a:endParaRPr sz="1000">
              <a:solidFill>
                <a:srgbClr val="EDF7F0"/>
              </a:solidFill>
            </a:endParaRPr>
          </a:p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Personas change sections, not evidence rules.</a:t>
            </a:r>
            <a:endParaRPr sz="1000">
              <a:solidFill>
                <a:srgbClr val="EDF7F0"/>
              </a:solidFill>
            </a:endParaRPr>
          </a:p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Degraded mode keeps the site useful.</a:t>
            </a:r>
            <a:endParaRPr sz="1000">
              <a:solidFill>
                <a:srgbClr val="EDF7F0"/>
              </a:solidFill>
            </a:endParaRPr>
          </a:p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F7F0"/>
              </a:buClr>
              <a:buSzPts val="1000"/>
              <a:buChar char="●"/>
            </a:pPr>
            <a:r>
              <a:rPr lang="en" sz="1000">
                <a:solidFill>
                  <a:srgbClr val="EDF7F0"/>
                </a:solidFill>
              </a:rPr>
              <a:t>Grounding is architecture, not only prompting.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2489200" y="4419600"/>
            <a:ext cx="1917600" cy="482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EDF7F0"/>
                </a:solidFill>
              </a:rPr>
              <a:t>3  PERSONAS</a:t>
            </a:r>
            <a:endParaRPr sz="1000" b="1">
              <a:solidFill>
                <a:srgbClr val="EDF7F0"/>
              </a:solidFill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4660900" y="4419600"/>
            <a:ext cx="1917600" cy="482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EDF7F0"/>
                </a:solidFill>
              </a:rPr>
              <a:t>2  MAX REWRITES</a:t>
            </a:r>
            <a:endParaRPr sz="1000" b="1">
              <a:solidFill>
                <a:srgbClr val="EDF7F0"/>
              </a:solidFill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832600" y="4419600"/>
            <a:ext cx="1917600" cy="482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EDF7F0"/>
                </a:solidFill>
              </a:rPr>
              <a:t>53 MB  CURRENT DB</a:t>
            </a:r>
            <a:endParaRPr sz="1000" b="1">
              <a:solidFill>
                <a:srgbClr val="EDF7F0"/>
              </a:solidFill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317500" y="4419600"/>
            <a:ext cx="1917600" cy="482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EDF7F0"/>
                </a:solidFill>
              </a:rPr>
              <a:t>52 TESTS PASS</a:t>
            </a:r>
            <a:endParaRPr sz="1000" b="1">
              <a:solidFill>
                <a:srgbClr val="EDF7F0"/>
              </a:solidFill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7277100" y="1035100"/>
            <a:ext cx="1485900" cy="7365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VERIFY</a:t>
            </a:r>
            <a:endParaRPr sz="900">
              <a:solidFill>
                <a:srgbClr val="EDF7F0"/>
              </a:solidFill>
            </a:endParaRPr>
          </a:p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DF7F0"/>
                </a:solidFill>
              </a:rPr>
              <a:t>Claim ↔ source loop</a:t>
            </a:r>
            <a:endParaRPr sz="900">
              <a:solidFill>
                <a:srgbClr val="EDF7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304800" y="215900"/>
            <a:ext cx="533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B8F24A"/>
                </a:solidFill>
              </a:rPr>
              <a:t>04</a:t>
            </a:r>
            <a:endParaRPr sz="1000" b="1">
              <a:solidFill>
                <a:srgbClr val="B8F24A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863600" y="1651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EDF7F0"/>
                </a:solidFill>
              </a:rPr>
              <a:t>Challenges and Learnings</a:t>
            </a:r>
            <a:endParaRPr sz="2200" b="1">
              <a:solidFill>
                <a:srgbClr val="EDF7F0"/>
              </a:solidFill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863600" y="533400"/>
            <a:ext cx="7874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4ADA1"/>
                </a:solidFill>
              </a:rPr>
              <a:t>What changed our engineering decisions</a:t>
            </a:r>
            <a:endParaRPr sz="900">
              <a:solidFill>
                <a:srgbClr val="94ADA1"/>
              </a:solidFill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317500" y="965200"/>
            <a:ext cx="4089300" cy="406500"/>
          </a:xfrm>
          <a:prstGeom prst="roundRect">
            <a:avLst>
              <a:gd name="adj" fmla="val 16667"/>
            </a:avLst>
          </a:prstGeom>
          <a:solidFill>
            <a:srgbClr val="3D121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6E66"/>
                </a:solidFill>
              </a:rPr>
              <a:t>CHALLENGES</a:t>
            </a:r>
            <a:endParaRPr sz="1300" b="1">
              <a:solidFill>
                <a:srgbClr val="FF6E66"/>
              </a:solidFill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737100" y="965200"/>
            <a:ext cx="4089300" cy="406500"/>
          </a:xfrm>
          <a:prstGeom prst="roundRect">
            <a:avLst>
              <a:gd name="adj" fmla="val 16667"/>
            </a:avLst>
          </a:prstGeom>
          <a:solidFill>
            <a:srgbClr val="0F36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9CE59E"/>
                </a:solidFill>
              </a:rPr>
              <a:t>LEARNINGS</a:t>
            </a:r>
            <a:endParaRPr sz="1300" b="1">
              <a:solidFill>
                <a:srgbClr val="9CE59E"/>
              </a:solidFill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17500" y="1485900"/>
            <a:ext cx="4089300" cy="647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Data Semantics:</a:t>
            </a:r>
            <a:endParaRPr sz="1000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SPP initially did not distinguish RT from DA.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317500" y="2260600"/>
            <a:ext cx="4089300" cy="647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Source Reliability:</a:t>
            </a:r>
            <a:endParaRPr sz="1000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APIs, keys and schedules fail independently.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17500" y="3035300"/>
            <a:ext cx="4089300" cy="647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Grounding:</a:t>
            </a:r>
            <a:endParaRPr sz="1000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Broad questions need metrics plus narrative evidence.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317500" y="3810000"/>
            <a:ext cx="4089300" cy="647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Free-tier Limits:</a:t>
            </a:r>
            <a:endParaRPr sz="1000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Cold starts, quotas, storage and egress need bounds.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737100" y="1485900"/>
            <a:ext cx="4089300" cy="647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Model the Market:</a:t>
            </a:r>
            <a:endParaRPr sz="1000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Canonical metrics prevent confident wrong answers.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4737100" y="2260600"/>
            <a:ext cx="4089300" cy="647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Design Degraded Mode:</a:t>
            </a:r>
            <a:endParaRPr sz="1000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Freshness and coverage stay visible during failures.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737100" y="3035300"/>
            <a:ext cx="4089300" cy="647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Calculate, then Explain:</a:t>
            </a:r>
            <a:endParaRPr sz="1000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SQL owns numbers; the LLM owns synthesis.</a:t>
            </a:r>
            <a:endParaRPr sz="1000">
              <a:solidFill>
                <a:srgbClr val="EDF7F0"/>
              </a:solidFill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737100" y="3810000"/>
            <a:ext cx="4089300" cy="647700"/>
          </a:xfrm>
          <a:prstGeom prst="roundRect">
            <a:avLst>
              <a:gd name="adj" fmla="val 16667"/>
            </a:avLst>
          </a:prstGeom>
          <a:solidFill>
            <a:srgbClr val="0C1F1A"/>
          </a:solidFill>
          <a:ln w="12700" cap="flat" cmpd="sng">
            <a:solidFill>
              <a:srgbClr val="264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Bound Everything:</a:t>
            </a:r>
            <a:endParaRPr sz="1000">
              <a:solidFill>
                <a:srgbClr val="EDF7F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DF7F0"/>
                </a:solidFill>
              </a:rPr>
              <a:t>Retention, caching and rate limits control cost.</a:t>
            </a:r>
            <a:endParaRPr sz="1000">
              <a:solidFill>
                <a:srgbClr val="EDF7F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On-screen Show (16:9)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Subhan Mehmood</cp:lastModifiedBy>
  <cp:revision>1</cp:revision>
  <dcterms:modified xsi:type="dcterms:W3CDTF">2026-08-12T07:29:01Z</dcterms:modified>
</cp:coreProperties>
</file>